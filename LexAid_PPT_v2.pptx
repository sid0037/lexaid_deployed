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PBL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LexAid</a:t>
            </a:r>
            <a:endParaRPr lang="en-US" sz="12800" dirty="0"/>
          </a:p>
        </p:txBody>
      </p:sp>
      <p:sp>
        <p:nvSpPr>
          <p:cNvPr id="7" name="Text 5"/>
          <p:cNvSpPr/>
          <p:nvPr/>
        </p:nvSpPr>
        <p:spPr>
          <a:xfrm>
            <a:off x="411480" y="27889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Aid Management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3337560"/>
            <a:ext cx="5486400" cy="0"/>
          </a:xfrm>
          <a:prstGeom prst="line">
            <a:avLst/>
          </a:prstGeom>
          <a:noFill/>
          <a:ln w="12700">
            <a:solidFill>
              <a:srgbClr val="6B4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93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Ojaswi Rao  (2401030167)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05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Siddharth Narang  (2401030174)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2428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Divit  (2401030180)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416052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0D0B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4160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7, 2025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51776" y="1143000"/>
            <a:ext cx="1463040" cy="548640"/>
          </a:xfrm>
          <a:prstGeom prst="roundRect">
            <a:avLst>
              <a:gd name="adj" fmla="val 23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0" descr="./logo jiit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7223760" y="73152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7772400" cy="475488"/>
          </a:xfrm>
          <a:prstGeom prst="roundRect">
            <a:avLst>
              <a:gd name="adj" fmla="val 50000"/>
            </a:avLst>
          </a:prstGeom>
          <a:solidFill>
            <a:srgbClr val="7C3ACD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9844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16736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services are often expensive and inaccessible to many people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1975104"/>
            <a:ext cx="7772400" cy="475488"/>
          </a:xfrm>
          <a:prstGeom prst="roundRect">
            <a:avLst>
              <a:gd name="adj" fmla="val 50000"/>
            </a:avLst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192" y="201168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029968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centralized platform to find verified and affordable lawyers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7772400" cy="475488"/>
          </a:xfrm>
          <a:prstGeom prst="roundRect">
            <a:avLst>
              <a:gd name="adj" fmla="val 50000"/>
            </a:avLst>
          </a:prstGeom>
          <a:solidFill>
            <a:srgbClr val="7C3ACD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72491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4320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of searching, verifying, and contacting lawyers is time-consuming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401568"/>
            <a:ext cx="7772400" cy="475488"/>
          </a:xfrm>
          <a:prstGeom prst="roundRect">
            <a:avLst>
              <a:gd name="adj" fmla="val 50000"/>
            </a:avLst>
          </a:prstGeom>
          <a:solidFill>
            <a:srgbClr val="4A3060"/>
          </a:solidFill>
          <a:ln w="12700">
            <a:solidFill>
              <a:srgbClr val="4A3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6192" y="343814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3456432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communication channels between clients and lawyers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7772400" cy="475488"/>
          </a:xfrm>
          <a:prstGeom prst="roundRect">
            <a:avLst>
              <a:gd name="adj" fmla="val 50000"/>
            </a:avLst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15137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69664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systems are manual, inefficient, and fragmented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PROPOSED SOLUTION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743200" cy="1005840"/>
          </a:xfrm>
          <a:prstGeom prst="roundRect">
            <a:avLst>
              <a:gd name="adj" fmla="val 25455"/>
            </a:avLst>
          </a:prstGeom>
          <a:solidFill>
            <a:srgbClr val="1A0D2E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344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 LexAid™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"Simplifying legal assistance through technology"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2560320" cy="141732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" y="1755648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0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COMPLEXITY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0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HUMAN CLARITY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560320" cy="1417320"/>
          </a:xfrm>
          <a:prstGeom prst="roundRect">
            <a:avLst>
              <a:gd name="adj" fmla="val 12903"/>
            </a:avLst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533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27648" y="1755648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2560320" cy="1417320"/>
          </a:xfrm>
          <a:prstGeom prst="roundRect">
            <a:avLst>
              <a:gd name="adj" fmla="val 12903"/>
            </a:avLst>
          </a:prstGeom>
          <a:solidFill>
            <a:srgbClr val="D946A8"/>
          </a:solidFill>
          <a:ln w="12700">
            <a:solidFill>
              <a:srgbClr val="D946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449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" y="3447288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CLIENT-LAWYER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880360"/>
            <a:ext cx="2560320" cy="1417320"/>
          </a:xfrm>
          <a:prstGeom prst="roundRect">
            <a:avLst>
              <a:gd name="adj" fmla="val 12903"/>
            </a:avLst>
          </a:prstGeom>
          <a:solidFill>
            <a:srgbClr val="2D2040"/>
          </a:solidFill>
          <a:ln w="12700">
            <a:solidFill>
              <a:srgbClr val="2D2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0449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27648" y="3447288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0" y="10972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434840" y="1097280"/>
            <a:ext cx="4480560" cy="32004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2984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0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platform connecting clients with verified lawyers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63440" y="1856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0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affordable and accessible legal assistance to everyone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24140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0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secure, encrypted communication &amp; case management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63440" y="2971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0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Firebase real-time technology for instant updates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352958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0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simplify the legal aid process end-to-end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34840" y="4315968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7C3ACD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3159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"Making legal help accessible, secure, and efficient for everyone"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7315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⚖</a:t>
            </a:r>
            <a:endParaRPr lang="en-US" sz="110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LexAid™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4320" y="9875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technology chosen to keep it fast, serverless, and real-time.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069080" cy="3383280"/>
          </a:xfrm>
          <a:prstGeom prst="roundRect">
            <a:avLst>
              <a:gd name="adj" fmla="val 59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44752"/>
            <a:ext cx="4069080" cy="475488"/>
          </a:xfrm>
          <a:prstGeom prst="roundRect">
            <a:avLst>
              <a:gd name="adj" fmla="val 19231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4475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+ CSS3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03120" y="20665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(ES Modules) — zero frameworks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 3.12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103120" y="2578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Animations, ScrollTrigger, custom cursor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906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0312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Cormorant Garamond + Outfit typefaces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027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Design Tokens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03120" y="36027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properties for consistent theming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+ Grain FX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03120" y="4114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texture, animated pulse indicators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444752"/>
            <a:ext cx="4069080" cy="3383280"/>
          </a:xfrm>
          <a:prstGeom prst="roundRect">
            <a:avLst>
              <a:gd name="adj" fmla="val 59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444752"/>
            <a:ext cx="4069080" cy="475488"/>
          </a:xfrm>
          <a:prstGeom prst="roundRect">
            <a:avLst>
              <a:gd name="adj" fmla="val 19231"/>
            </a:avLst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44752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SERVICES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0665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0" y="20665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Email/password, email verification, re-auth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57860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0" y="25786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NoSQL — onSnapshot live sync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0906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SDK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83680" y="30906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v10.7.1 via ES Module CDN imports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60273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Serverless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0" y="360273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 server — zero infrastructure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4114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1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Rules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0" y="4114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Auth-gated read/write (production ruleset planned)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74320" y="96926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LexAid follows a client-server architecture with a web-based frontend and a Cloud Firestore backend.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032" y="1426464"/>
            <a:ext cx="2761488" cy="3520440"/>
          </a:xfrm>
          <a:prstGeom prst="roundRect">
            <a:avLst>
              <a:gd name="adj" fmla="val 7285"/>
            </a:avLst>
          </a:prstGeom>
          <a:solidFill>
            <a:srgbClr val="2D1B4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426464"/>
            <a:ext cx="2761488" cy="402336"/>
          </a:xfrm>
          <a:prstGeom prst="roundRect">
            <a:avLst>
              <a:gd name="adj" fmla="val 18182"/>
            </a:avLst>
          </a:prstGeom>
          <a:solidFill>
            <a:srgbClr val="7C3ACD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426464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BROWSER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login.html  /  register.html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3774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client-dashboard.html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8346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lawyer-dashboard.html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find-lawyer.html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37490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chat.html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2062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29992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8D0"/>
                </a:solidFill>
              </a:rPr>
              <a:t>⟷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1426464"/>
            <a:ext cx="2761488" cy="3520440"/>
          </a:xfrm>
          <a:prstGeom prst="roundRect">
            <a:avLst>
              <a:gd name="adj" fmla="val 7285"/>
            </a:avLst>
          </a:prstGeom>
          <a:solidFill>
            <a:srgbClr val="2D1B4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426464"/>
            <a:ext cx="2761488" cy="402336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426464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19202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signInWithEmailAndPassword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3774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createUserWithEmailAndPassword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28346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onAuthStateChanged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sendEmailVerification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7490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EmailAuthProvider (re-auth)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42062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redirect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61888" y="29992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8D0"/>
                </a:solidFill>
              </a:rPr>
              <a:t>⟷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44768" y="1426464"/>
            <a:ext cx="2761488" cy="3520440"/>
          </a:xfrm>
          <a:prstGeom prst="roundRect">
            <a:avLst>
              <a:gd name="adj" fmla="val 7285"/>
            </a:avLst>
          </a:prstGeom>
          <a:solidFill>
            <a:srgbClr val="2D1B4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1426464"/>
            <a:ext cx="2761488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1426464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19202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 collection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23774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 collection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36208" y="28346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requests/{id}/messages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32918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 collection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37490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onSnapshot (real-time)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36208" y="42062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serverTimestamp()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flows via Firestore onSnapshot listeners — fully real-time, no polling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91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Choose LexAid?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6459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LexAid is purpose-built to solve every gap in the legal aid experience. Here's what sets it apart from any generic directory or communication tool.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3931920" cy="1572768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Lawyer Matching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938528"/>
            <a:ext cx="3474720" cy="0"/>
          </a:xfrm>
          <a:prstGeom prst="line">
            <a:avLst/>
          </a:prstGeom>
          <a:noFill/>
          <a:ln w="12700">
            <a:solidFill>
              <a:srgbClr val="7C3A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scores lawyers on specialization match (40 pts), success rate (40 pts), and years of experience (20 pts) — best fit always appears first.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89888"/>
            <a:ext cx="3931920" cy="1572768"/>
          </a:xfrm>
          <a:prstGeom prst="roundRect">
            <a:avLst>
              <a:gd name="adj" fmla="val 12791"/>
            </a:avLst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Case Management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92040" y="1938528"/>
            <a:ext cx="34747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11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onSnapshot keeps dashboards live without refresh. Submit, accept, chat, close — every status change updates instantly across all connected users.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072384"/>
            <a:ext cx="3931920" cy="1572768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369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Chat + Feedback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621024"/>
            <a:ext cx="3474720" cy="0"/>
          </a:xfrm>
          <a:prstGeom prst="line">
            <a:avLst/>
          </a:prstGeom>
          <a:noFill/>
          <a:ln w="12700">
            <a:solidFill>
              <a:srgbClr val="D94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9417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 gets a dedicated end-to-end confidential chat channel. After closure, clients rate their lawyer with stars and a written review — visible on the lawyer's public profile.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72384"/>
            <a:ext cx="3931920" cy="1572768"/>
          </a:xfrm>
          <a:prstGeom prst="roundRect">
            <a:avLst>
              <a:gd name="adj" fmla="val 12791"/>
            </a:avLst>
          </a:prstGeom>
          <a:solidFill>
            <a:srgbClr val="2D1B4E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2369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Role Enforcement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92040" y="3621024"/>
            <a:ext cx="3474720" cy="0"/>
          </a:xfrm>
          <a:prstGeom prst="line">
            <a:avLst/>
          </a:prstGeom>
          <a:noFill/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694176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numbers hidden, emails masked on public profiles. Clients auto-redirected from lawyer dashboard and vice versa. Sensitive actions require re-authentication.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 JOURNEY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first login to a reviewed, closed case — here's how LexAid works for a client.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" y="188366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" y="2212848"/>
            <a:ext cx="1225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Client role,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name, phone,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password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934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3736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92224" y="188366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Case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792224" y="2212848"/>
            <a:ext cx="1225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case title,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&amp; description.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to Firestore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7238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4D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55264" y="188366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Lawyer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55264" y="2212848"/>
            <a:ext cx="1225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lawyers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match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score. Send 1 request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3542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18304" y="188366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Active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18304" y="2212848"/>
            <a:ext cx="1225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accepts →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dot appears,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unlocked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9846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D946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6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81344" y="188366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&amp; Track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81344" y="2212848"/>
            <a:ext cx="1225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case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dashboard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6150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8952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644384" y="1883664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&amp; Close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44384" y="2212848"/>
            <a:ext cx="12252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closed →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rating modal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auto-opens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34930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lawyer is slow to respond → 'Get New Lawyer' releases the case back to the open queue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389534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4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can cancel a pending request at any time before the lawyer accepts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LAWYER JOURNEY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Lawyers have full control — accept the right case, manage it, and build a public reputation.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4D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9184" y="18836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" y="2286000"/>
            <a:ext cx="1225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role,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spec, experience,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ID (optional)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934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3736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92224" y="18836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Two-Tab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92224" y="2286000"/>
            <a:ext cx="1225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'My Requests' vs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'Open Cases'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on dashboard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7238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55264" y="18836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55264" y="2286000"/>
            <a:ext cx="1225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1-case-at-a-time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enforced.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requests first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3542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D946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6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18304" y="18836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&amp;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8304" y="2286000"/>
            <a:ext cx="1225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secure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with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9846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C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81344" y="18836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/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81344" y="2286000"/>
            <a:ext cx="1225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= resolved ✓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= returns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open queue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61504" y="223113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89520" y="1371600"/>
            <a:ext cx="1335024" cy="1965960"/>
          </a:xfrm>
          <a:prstGeom prst="roundRect">
            <a:avLst>
              <a:gd name="adj" fmla="val 10959"/>
            </a:avLst>
          </a:prstGeom>
          <a:solidFill>
            <a:srgbClr val="2D1B4E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141732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644384" y="1883664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44384" y="2286000"/>
            <a:ext cx="12252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Stats, success rate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star ratings on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profile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34930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client sends a direct request → card shows  ⭐ 'Sent to You' badge and floats to top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389534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client uses 'Get New Lawyer' → lawyer sees  ⚠ 'Client Left' badge. No Accept/Decline buttons shown.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MATCHING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4D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lawyer gets a match score out of 100 based on three weighted factors: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1719072" cy="1508760"/>
          </a:xfrm>
          <a:prstGeom prst="roundRect">
            <a:avLst>
              <a:gd name="adj" fmla="val 10909"/>
            </a:avLst>
          </a:prstGeom>
          <a:solidFill>
            <a:srgbClr val="2D1B4E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83664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74320" y="24688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76148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1828800"/>
            <a:ext cx="1719072" cy="1508760"/>
          </a:xfrm>
          <a:prstGeom prst="roundRect">
            <a:avLst>
              <a:gd name="adj" fmla="val 10909"/>
            </a:avLst>
          </a:prstGeom>
          <a:solidFill>
            <a:srgbClr val="2D1B4E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883664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2148840" y="24688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4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276148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1828800"/>
            <a:ext cx="1719072" cy="1508760"/>
          </a:xfrm>
          <a:prstGeom prst="roundRect">
            <a:avLst>
              <a:gd name="adj" fmla="val 10909"/>
            </a:avLst>
          </a:prstGeom>
          <a:solidFill>
            <a:srgbClr val="2D1B4E"/>
          </a:solidFill>
          <a:ln w="12700">
            <a:solidFill>
              <a:srgbClr val="D946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83664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023360" y="24688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276148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2D1B4E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29000"/>
            <a:ext cx="54864" cy="475488"/>
          </a:xfrm>
          <a:prstGeom prst="rect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838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Match (40 pts)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34838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= 40 pts · Related field = 20 pts · General Practice = 20 pts · No match = 0 pts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97764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2D1B4E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977640"/>
            <a:ext cx="54864" cy="475488"/>
          </a:xfrm>
          <a:prstGeom prst="rect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32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 (40 pts)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40325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(Closed cases ÷ Total assigned) × 40. A lawyer with 8/10 closed cases scores 32 out of 40 pts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52628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2D1B4E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526280"/>
            <a:ext cx="54864" cy="475488"/>
          </a:xfrm>
          <a:prstGeom prst="rect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81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(20 pts)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97480" y="45811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pts per year, capped at 20 pts (i.e. 10+ years experience = full score)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Firestore collections power the entire platform.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084832" cy="3703320"/>
          </a:xfrm>
          <a:prstGeom prst="roundRect">
            <a:avLst>
              <a:gd name="adj" fmla="val 9649"/>
            </a:avLst>
          </a:prstGeom>
          <a:solidFill>
            <a:srgbClr val="2D1B4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34440"/>
            <a:ext cx="2084832" cy="384048"/>
          </a:xfrm>
          <a:prstGeom prst="roundRect">
            <a:avLst>
              <a:gd name="adj" fmla="val 19048"/>
            </a:avLst>
          </a:prstGeom>
          <a:solidFill>
            <a:srgbClr val="7C3ACD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2344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71907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 (= Auth UID)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2140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fullName, email, phone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5237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client | lawyer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92608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specialization, experience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32841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barCouncilId (optional)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373075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bio, city, languages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13308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createdAt, updatedAt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41448" y="1234440"/>
            <a:ext cx="2084832" cy="3703320"/>
          </a:xfrm>
          <a:prstGeom prst="roundRect">
            <a:avLst>
              <a:gd name="adj" fmla="val 9649"/>
            </a:avLst>
          </a:prstGeom>
          <a:solidFill>
            <a:srgbClr val="2D1B4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41448" y="1234440"/>
            <a:ext cx="2084832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41448" y="12344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32888" y="171907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clientId, clientName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32888" y="212140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type, description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32888" y="25237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pending | accepted | closed | rejected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32888" y="292608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lawyerId, lawyerName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32888" y="332841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targetLawyerId (direct request)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32888" y="373075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prevLawyerId (release tracking)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32888" y="413308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clientReleased, lawyerLeft (bool)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54296" y="1234440"/>
            <a:ext cx="2084832" cy="3703320"/>
          </a:xfrm>
          <a:prstGeom prst="roundRect">
            <a:avLst>
              <a:gd name="adj" fmla="val 9649"/>
            </a:avLst>
          </a:prstGeom>
          <a:solidFill>
            <a:srgbClr val="2D1B4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54296" y="1234440"/>
            <a:ext cx="2084832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54296" y="12344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45736" y="171907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Sub-collection under requests/{id}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45736" y="212140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senderId, senderName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25237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timestamp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45736" y="292608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Date-grouped in UI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45736" y="332841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when status = closed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45736" y="373075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via onSnapshot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45736" y="413308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Auto-scroll on new message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67144" y="1234440"/>
            <a:ext cx="2084832" cy="3703320"/>
          </a:xfrm>
          <a:prstGeom prst="roundRect">
            <a:avLst>
              <a:gd name="adj" fmla="val 9649"/>
            </a:avLst>
          </a:prstGeom>
          <a:solidFill>
            <a:srgbClr val="2D1B4E"/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67144" y="1234440"/>
            <a:ext cx="2084832" cy="384048"/>
          </a:xfrm>
          <a:prstGeom prst="roundRect">
            <a:avLst>
              <a:gd name="adj" fmla="val 19048"/>
            </a:avLst>
          </a:prstGeom>
          <a:solidFill>
            <a:srgbClr val="D946A8"/>
          </a:solidFill>
          <a:ln w="12700">
            <a:solidFill>
              <a:srgbClr val="D946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67144" y="123444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58584" y="171907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requestId + clientId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58584" y="212140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lawyerId, lawyerName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58584" y="25237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(1–5 stars)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58584" y="292608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text (optional)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58584" y="332841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submittedAt timestamp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58584" y="373075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doc per case per client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58584" y="413308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Queried by lawyerId for profile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Team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816352" cy="3730752"/>
          </a:xfrm>
          <a:prstGeom prst="roundRect">
            <a:avLst>
              <a:gd name="adj" fmla="val 7143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" y="1261872"/>
            <a:ext cx="1097280" cy="1097280"/>
          </a:xfrm>
          <a:prstGeom prst="ellipse">
            <a:avLst/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1B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" y="243230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Ojaswi Rao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" y="28163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2D1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2401030167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2267712" cy="0"/>
          </a:xfrm>
          <a:prstGeom prst="line">
            <a:avLst/>
          </a:prstGeom>
          <a:noFill/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320040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 · Backend &amp; Data Architecture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" y="3611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data model · Authentication system · Case lifecycle state machine · client-dashboard.html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1143000"/>
            <a:ext cx="2816352" cy="3730752"/>
          </a:xfrm>
          <a:prstGeom prst="roundRect">
            <a:avLst>
              <a:gd name="adj" fmla="val 7143"/>
            </a:avLst>
          </a:prstGeom>
          <a:solidFill>
            <a:srgbClr val="2D1B4E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32504" y="1261872"/>
            <a:ext cx="1097280" cy="1097280"/>
          </a:xfrm>
          <a:prstGeom prst="ellipse">
            <a:avLst/>
          </a:prstGeom>
          <a:solidFill>
            <a:srgbClr val="9B4DCA"/>
          </a:solidFill>
          <a:ln w="12700">
            <a:solidFill>
              <a:srgbClr val="9B4D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2504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82696" y="243230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Siddharth Narang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82696" y="28163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B4D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2401030174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47288" y="3127248"/>
            <a:ext cx="2267712" cy="0"/>
          </a:xfrm>
          <a:prstGeom prst="line">
            <a:avLst/>
          </a:prstGeom>
          <a:noFill/>
          <a:ln w="12700">
            <a:solidFill>
              <a:srgbClr val="6B4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2696" y="320040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Lead · Frontend Design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00984" y="3611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Dark-gold design system · lawyer-dashboard.html · find-lawyer.html · profile.html · Animations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17336" y="1143000"/>
            <a:ext cx="2816352" cy="3730752"/>
          </a:xfrm>
          <a:prstGeom prst="roundRect">
            <a:avLst>
              <a:gd name="adj" fmla="val 7143"/>
            </a:avLst>
          </a:prstGeom>
          <a:solidFill>
            <a:srgbClr val="2D1B4E"/>
          </a:solidFill>
          <a:ln w="12700">
            <a:solidFill>
              <a:srgbClr val="D946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76872" y="1261872"/>
            <a:ext cx="1097280" cy="1097280"/>
          </a:xfrm>
          <a:prstGeom prst="ellipse">
            <a:avLst/>
          </a:prstGeom>
          <a:solidFill>
            <a:srgbClr val="D946A8"/>
          </a:solidFill>
          <a:ln w="12700">
            <a:solidFill>
              <a:srgbClr val="D946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76872" y="1325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DV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227064" y="2432304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27064" y="281635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2401030180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91656" y="3127248"/>
            <a:ext cx="2267712" cy="0"/>
          </a:xfrm>
          <a:prstGeom prst="line">
            <a:avLst/>
          </a:prstGeom>
          <a:noFill/>
          <a:ln w="12700">
            <a:solidFill>
              <a:srgbClr val="6B4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320040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Lead · Chat &amp; Testing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45352" y="3611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chat.html · Feedback system · Smart matching algorithm · Bug triage · Cross-file QA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0" y="109728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for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Us?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120640" y="28346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serverless Firebase architecture supports all planned extensions without any infrastructure changes.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64592"/>
            <a:ext cx="4617720" cy="1463040"/>
          </a:xfrm>
          <a:prstGeom prst="roundRect">
            <a:avLst>
              <a:gd name="adj" fmla="val 11250"/>
            </a:avLst>
          </a:prstGeom>
          <a:solidFill>
            <a:srgbClr val="2D1B4E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237744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7C3ACD"/>
          </a:solidFill>
          <a:ln w="12700">
            <a:solidFill>
              <a:srgbClr val="7C3A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3774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658368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attachments in chat (Firebase Storage — Blaze plan)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98755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OTP email verification via Cloud Functions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31673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Firestore security rules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755648"/>
            <a:ext cx="4617720" cy="1463040"/>
          </a:xfrm>
          <a:prstGeom prst="roundRect">
            <a:avLst>
              <a:gd name="adj" fmla="val 11250"/>
            </a:avLst>
          </a:prstGeom>
          <a:solidFill>
            <a:srgbClr val="2D1B4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82880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828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2249424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 — manage users, moderate reviews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578608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availability toggle (busy/available)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907792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notification system for case changes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346704"/>
            <a:ext cx="4617720" cy="1463040"/>
          </a:xfrm>
          <a:prstGeom prst="roundRect">
            <a:avLst>
              <a:gd name="adj" fmla="val 11250"/>
            </a:avLst>
          </a:prstGeom>
          <a:solidFill>
            <a:srgbClr val="2D1B4E"/>
          </a:solidFill>
          <a:ln w="12700">
            <a:solidFill>
              <a:srgbClr val="D946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3419856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D946A8"/>
          </a:solidFill>
          <a:ln w="12700">
            <a:solidFill>
              <a:srgbClr val="D94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419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84048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document vault — upload court documents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4169664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Multi-language: Hindi + English UI strings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498848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4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/ mobile wrapper — offline + push notifications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  ·  01 /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DIAGRAM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Illustrates the functional requirements of LexAid — depicting interactions between external actors (Client, Lawyer) and the system's key use cases such as Register, Submit Case, Accept Case, Chat, and Rate Lawyer.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" y="1572768"/>
            <a:ext cx="8266176" cy="3090672"/>
          </a:xfrm>
          <a:prstGeom prst="roundRect">
            <a:avLst>
              <a:gd name="adj" fmla="val 5325"/>
            </a:avLst>
          </a:prstGeom>
          <a:solidFill>
            <a:srgbClr val="1A0D2E"/>
          </a:solidFill>
          <a:ln w="12700">
            <a:solidFill>
              <a:srgbClr val="A855F7">
                <a:alpha val="70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74904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2168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72768"/>
            <a:ext cx="826617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Insert Use Case Diagram Image Here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" y="4727448"/>
            <a:ext cx="8266176" cy="320040"/>
          </a:xfrm>
          <a:prstGeom prst="roundRect">
            <a:avLst>
              <a:gd name="adj" fmla="val 28571"/>
            </a:avLst>
          </a:prstGeom>
          <a:solidFill>
            <a:srgbClr val="7C3ACD">
              <a:alpha val="45000"/>
            </a:srgbClr>
          </a:solidFill>
          <a:ln w="12700">
            <a:solidFill>
              <a:srgbClr val="7C3ACD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727448"/>
            <a:ext cx="8266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/ Entities: Client  ·  Lawyer  ·  System   |   Tool: draw.io / Lucidchart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  ·  02 /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SEQUENCE DIAGRAM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time-ordered message flow between the Client, Lawyer, Firebase Auth, and Cloud Firestore during key scenarios: Registration, Case Submission, Acceptance, Real-Time Chat, and Case Closure.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" y="1572768"/>
            <a:ext cx="8266176" cy="3090672"/>
          </a:xfrm>
          <a:prstGeom prst="roundRect">
            <a:avLst>
              <a:gd name="adj" fmla="val 5325"/>
            </a:avLst>
          </a:prstGeom>
          <a:solidFill>
            <a:srgbClr val="1A0D2E"/>
          </a:solidFill>
          <a:ln w="12700">
            <a:solidFill>
              <a:srgbClr val="A855F7">
                <a:alpha val="70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74904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2168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72768"/>
            <a:ext cx="826617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Insert Sequence Diagram Image Here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" y="4727448"/>
            <a:ext cx="8266176" cy="320040"/>
          </a:xfrm>
          <a:prstGeom prst="roundRect">
            <a:avLst>
              <a:gd name="adj" fmla="val 28571"/>
            </a:avLst>
          </a:prstGeom>
          <a:solidFill>
            <a:srgbClr val="7C3ACD">
              <a:alpha val="45000"/>
            </a:srgbClr>
          </a:solidFill>
          <a:ln w="12700">
            <a:solidFill>
              <a:srgbClr val="7C3ACD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727448"/>
            <a:ext cx="8266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/ Entities: Client  ·  Lawyer  ·  Firebase Auth  ·  Firestore   |   Tool: draw.io / Lucidchart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  ·  03 /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 DIAGRAM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Entity-Relationship diagram depicting the four core Firestore collections — users, requests, messages, feedback — their attributes and the relationships (one-to-many, sub-collection) that bind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" y="1572768"/>
            <a:ext cx="8266176" cy="3090672"/>
          </a:xfrm>
          <a:prstGeom prst="roundRect">
            <a:avLst>
              <a:gd name="adj" fmla="val 5325"/>
            </a:avLst>
          </a:prstGeom>
          <a:solidFill>
            <a:srgbClr val="1A0D2E"/>
          </a:solidFill>
          <a:ln w="12700">
            <a:solidFill>
              <a:srgbClr val="A855F7">
                <a:alpha val="70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74904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2168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72768"/>
            <a:ext cx="826617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Insert ER Diagram Image Here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" y="4727448"/>
            <a:ext cx="8266176" cy="320040"/>
          </a:xfrm>
          <a:prstGeom prst="roundRect">
            <a:avLst>
              <a:gd name="adj" fmla="val 28571"/>
            </a:avLst>
          </a:prstGeom>
          <a:solidFill>
            <a:srgbClr val="7C3ACD">
              <a:alpha val="45000"/>
            </a:srgbClr>
          </a:solidFill>
          <a:ln w="12700">
            <a:solidFill>
              <a:srgbClr val="7C3ACD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727448"/>
            <a:ext cx="8266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/ Entities: users  ·  requests  ·  messages  ·  feedback   |   Tool: draw.io / Lucidchart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  ·  04 /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 DIAGRAM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static structure of the LexAid system — classes such as User, Client, Lawyer, Case, Message, and Feedback with their attributes, methods, and inheritance / association relationships.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" y="1572768"/>
            <a:ext cx="8266176" cy="3090672"/>
          </a:xfrm>
          <a:prstGeom prst="roundRect">
            <a:avLst>
              <a:gd name="adj" fmla="val 5325"/>
            </a:avLst>
          </a:prstGeom>
          <a:solidFill>
            <a:srgbClr val="1A0D2E"/>
          </a:solidFill>
          <a:ln w="12700">
            <a:solidFill>
              <a:srgbClr val="A855F7">
                <a:alpha val="70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74904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2168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72768"/>
            <a:ext cx="826617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Insert Class Diagram Image Here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" y="4727448"/>
            <a:ext cx="8266176" cy="320040"/>
          </a:xfrm>
          <a:prstGeom prst="roundRect">
            <a:avLst>
              <a:gd name="adj" fmla="val 28571"/>
            </a:avLst>
          </a:prstGeom>
          <a:solidFill>
            <a:srgbClr val="7C3ACD">
              <a:alpha val="45000"/>
            </a:srgbClr>
          </a:solidFill>
          <a:ln w="12700">
            <a:solidFill>
              <a:srgbClr val="7C3ACD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727448"/>
            <a:ext cx="8266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/ Entities: User  ·  Client  ·  Lawyer  ·  Case  ·  Message  ·  Feedback   |   Tool: draw.io / Lucidchart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  ·  05 /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ACTIVITY DIAGRAM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the workflow and decision logic of LexAid — from user login and role-based redirect, through case submission, lawyer matching, acceptance/rejection, real-time chat, to case closure and star-rating submission.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" y="1572768"/>
            <a:ext cx="8266176" cy="3090672"/>
          </a:xfrm>
          <a:prstGeom prst="roundRect">
            <a:avLst>
              <a:gd name="adj" fmla="val 5325"/>
            </a:avLst>
          </a:prstGeom>
          <a:solidFill>
            <a:srgbClr val="1A0D2E"/>
          </a:solidFill>
          <a:ln w="12700">
            <a:solidFill>
              <a:srgbClr val="A855F7">
                <a:alpha val="70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74904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2168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72768"/>
            <a:ext cx="826617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Insert Activity Diagram Image Here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" y="4727448"/>
            <a:ext cx="8266176" cy="320040"/>
          </a:xfrm>
          <a:prstGeom prst="roundRect">
            <a:avLst>
              <a:gd name="adj" fmla="val 28571"/>
            </a:avLst>
          </a:prstGeom>
          <a:solidFill>
            <a:srgbClr val="7C3ACD">
              <a:alpha val="45000"/>
            </a:srgbClr>
          </a:solidFill>
          <a:ln w="12700">
            <a:solidFill>
              <a:srgbClr val="7C3ACD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727448"/>
            <a:ext cx="8266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/ Entities: Client  ·  Lawyer  ·  System   |   Tool: draw.io / Lucidchart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4E">
              <a:alpha val="70000"/>
            </a:srgbClr>
          </a:solidFill>
          <a:ln w="12700">
            <a:solidFill>
              <a:srgbClr val="2D1B4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5B2D8E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 DIAGRAMS  ·  06 / 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8595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 DIAGRAM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Illustrates the high-level software components of LexAid and their dependencies — HTML pages (UI layer), Firebase Auth, Cloud Firestore, Firebase SDK, and how data flows between each component.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" y="1572768"/>
            <a:ext cx="8266176" cy="3090672"/>
          </a:xfrm>
          <a:prstGeom prst="roundRect">
            <a:avLst>
              <a:gd name="adj" fmla="val 5325"/>
            </a:avLst>
          </a:prstGeom>
          <a:solidFill>
            <a:srgbClr val="1A0D2E"/>
          </a:solidFill>
          <a:ln w="12700">
            <a:solidFill>
              <a:srgbClr val="A855F7">
                <a:alpha val="70000"/>
              </a:srgb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74904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2168" y="15087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2168" y="4251960"/>
            <a:ext cx="164592" cy="16459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72768"/>
            <a:ext cx="826617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Insert Component Diagram Image Here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" y="4727448"/>
            <a:ext cx="8266176" cy="320040"/>
          </a:xfrm>
          <a:prstGeom prst="roundRect">
            <a:avLst>
              <a:gd name="adj" fmla="val 28571"/>
            </a:avLst>
          </a:prstGeom>
          <a:solidFill>
            <a:srgbClr val="7C3ACD">
              <a:alpha val="45000"/>
            </a:srgbClr>
          </a:solidFill>
          <a:ln w="12700">
            <a:solidFill>
              <a:srgbClr val="7C3ACD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727448"/>
            <a:ext cx="8266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/ Entities: UI Layer  ·  Firebase Auth  ·  Cloud Firestore  ·  Firebase SDK   |   Tool: draw.io / Lucidchart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D8C">
              <a:alpha val="55000"/>
            </a:srgbClr>
          </a:solidFill>
          <a:ln w="12700">
            <a:solidFill>
              <a:srgbClr val="4A1D8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9B4DCA">
              <a:alpha val="20000"/>
            </a:srgbClr>
          </a:solidFill>
          <a:ln w="12700">
            <a:solidFill>
              <a:srgbClr val="9B4DC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 PBL  ·  JIIT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005072"/>
            <a:ext cx="8229600" cy="74980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14800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41696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Ojaswi  ·  Siddharth  ·  Divit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3360" y="4114800"/>
            <a:ext cx="347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🏫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07408" y="41696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JIIT — 2401030167, 2401030174, 2401030180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LexAid — Legal Aid Management System</dc:title>
  <dc:subject>PptxGenJS Presentation</dc:subject>
  <dc:creator>PptxGenJS</dc:creator>
  <cp:lastModifiedBy>PptxGenJS</cp:lastModifiedBy>
  <cp:revision>1</cp:revision>
  <dcterms:created xsi:type="dcterms:W3CDTF">2026-04-25T01:53:34Z</dcterms:created>
  <dcterms:modified xsi:type="dcterms:W3CDTF">2026-04-25T01:53:34Z</dcterms:modified>
</cp:coreProperties>
</file>